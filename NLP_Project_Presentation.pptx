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9" r:id="rId13"/>
    <p:sldId id="272" r:id="rId14"/>
    <p:sldId id="271" r:id="rId15"/>
    <p:sldId id="274" r:id="rId16"/>
    <p:sldId id="266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FFFFF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Linear SVM</c:v>
                </c:pt>
                <c:pt idx="2">
                  <c:v>Naive Bayes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0.7957</c:v>
                </c:pt>
                <c:pt idx="1">
                  <c:v>0.7776</c:v>
                </c:pt>
                <c:pt idx="2">
                  <c:v>0.7924</c:v>
                </c:pt>
                <c:pt idx="3">
                  <c:v>0.7704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FFFFF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Linear SVM</c:v>
                </c:pt>
                <c:pt idx="2">
                  <c:v>Naive Bayes</c:v>
                </c:pt>
                <c:pt idx="3">
                  <c:v>Random Forest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0.7766</c:v>
                </c:pt>
                <c:pt idx="1">
                  <c:v>0.7495</c:v>
                </c:pt>
                <c:pt idx="2">
                  <c:v>0.8676</c:v>
                </c:pt>
                <c:pt idx="3">
                  <c:v>0.8035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FFFFF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Linear SVM</c:v>
                </c:pt>
                <c:pt idx="2">
                  <c:v>Naive Bayes</c:v>
                </c:pt>
                <c:pt idx="3">
                  <c:v>Random Forest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0.731</c:v>
                </c:pt>
                <c:pt idx="1">
                  <c:v>0.7181</c:v>
                </c:pt>
                <c:pt idx="2">
                  <c:v>0.6055</c:v>
                </c:pt>
                <c:pt idx="3">
                  <c:v>0.6106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FFFFF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Linear SVM</c:v>
                </c:pt>
                <c:pt idx="2">
                  <c:v>Naive Bayes</c:v>
                </c:pt>
                <c:pt idx="3">
                  <c:v>Random Forest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0.753</c:v>
                </c:pt>
                <c:pt idx="1">
                  <c:v>0.7335</c:v>
                </c:pt>
                <c:pt idx="2">
                  <c:v>0.7131</c:v>
                </c:pt>
                <c:pt idx="3">
                  <c:v>0.6937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47b15d9-b4ee-4179-bd54-d55783da0cea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Disaster Tweet Classification</a:t>
            </a:r>
            <a:endParaRPr sz="4000" b="1">
              <a:solidFill>
                <a:srgbClr val="FFFFFF"/>
              </a:solidFill>
            </a:endParaRPr>
          </a:p>
          <a:p>
            <a:r>
              <a:rPr sz="2300">
                <a:solidFill>
                  <a:srgbClr val="D2DCF0"/>
                </a:solidFill>
              </a:rPr>
              <a:t>Natural Language Processing + Machine Learning</a:t>
            </a:r>
            <a:endParaRPr sz="2300">
              <a:solidFill>
                <a:srgbClr val="D2DCF0"/>
              </a:solidFill>
            </a:endParaRPr>
          </a:p>
          <a:p>
            <a:r>
              <a:rPr sz="1500">
                <a:solidFill>
                  <a:srgbClr val="B4C3DC"/>
                </a:solidFill>
              </a:rPr>
              <a:t>Project presentation based on the completed NLP notebook</a:t>
            </a:r>
            <a:endParaRPr sz="1500">
              <a:solidFill>
                <a:srgbClr val="B4C3DC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3886200"/>
            <a:ext cx="1783080" cy="685800"/>
          </a:xfrm>
          <a:prstGeom prst="roundRect">
            <a:avLst/>
          </a:prstGeom>
          <a:solidFill>
            <a:srgbClr val="2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Raw Tweets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6" name="Chevron 5"/>
          <p:cNvSpPr/>
          <p:nvPr/>
        </p:nvSpPr>
        <p:spPr>
          <a:xfrm>
            <a:off x="2633472" y="4050791"/>
            <a:ext cx="347472" cy="320040"/>
          </a:xfrm>
          <a:prstGeom prst="chevron">
            <a:avLst/>
          </a:prstGeom>
          <a:solidFill>
            <a:srgbClr val="82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63240" y="3886200"/>
            <a:ext cx="1783080" cy="685800"/>
          </a:xfrm>
          <a:prstGeom prst="roundRect">
            <a:avLst/>
          </a:prstGeom>
          <a:solidFill>
            <a:srgbClr val="2CA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Cleaning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4873752" y="4050791"/>
            <a:ext cx="347472" cy="320040"/>
          </a:xfrm>
          <a:prstGeom prst="chevron">
            <a:avLst/>
          </a:prstGeom>
          <a:solidFill>
            <a:srgbClr val="82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3886200"/>
            <a:ext cx="1783080" cy="685800"/>
          </a:xfrm>
          <a:prstGeom prst="roundRect">
            <a:avLst/>
          </a:prstGeom>
          <a:solidFill>
            <a:srgbClr val="E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TF-IDF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7114032" y="4050791"/>
            <a:ext cx="347472" cy="320040"/>
          </a:xfrm>
          <a:prstGeom prst="chevron">
            <a:avLst/>
          </a:prstGeom>
          <a:solidFill>
            <a:srgbClr val="82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3886200"/>
            <a:ext cx="1783080" cy="685800"/>
          </a:xfrm>
          <a:prstGeom prst="roundRect">
            <a:avLst/>
          </a:prstGeom>
          <a:solidFill>
            <a:srgbClr val="F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Classifier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9354312" y="4050791"/>
            <a:ext cx="347472" cy="320040"/>
          </a:xfrm>
          <a:prstGeom prst="chevron">
            <a:avLst/>
          </a:prstGeom>
          <a:solidFill>
            <a:srgbClr val="82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3886200"/>
            <a:ext cx="1783080" cy="685800"/>
          </a:xfrm>
          <a:prstGeom prst="roundRect">
            <a:avLst/>
          </a:prstGeom>
          <a:solidFill>
            <a:srgbClr val="3F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 / 1 Prediction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</a:rPr>
              <a:t>Goal: identify whether a tweet reports a real disaster or is non-disaster content.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8"/>
                </a:solidFill>
              </a:rPr>
              <a:t>1. Problem Statement &amp; Objectives</a:t>
            </a:r>
            <a:endParaRPr sz="2800" b="1">
              <a:solidFill>
                <a:srgbClr val="18233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37310"/>
            <a:ext cx="2011680" cy="384048"/>
          </a:xfrm>
          <a:prstGeom prst="roundRect">
            <a:avLst/>
          </a:prstGeom>
          <a:solidFill>
            <a:srgbClr val="E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WHY THIS MATTERS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Twitter is a real-time information channel during emergencies, but disaster-related language can be ambiguous.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project treats the task as binary text classification: 1 = real disaster, 0 = non-disaster.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Automation can help filter social-media noise and support faster emergency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2011680" cy="384048"/>
          </a:xfrm>
          <a:prstGeom prst="roundRect">
            <a:avLst/>
          </a:prstGeom>
          <a:solidFill>
            <a:srgbClr val="2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OBJECTIVES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Develop a machine-learning classifier for disaster-related tweets.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Prioritize useful precision, recall and F1 performance to reduce missed disaster signals.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Build a robust workflow that can handle varied tweet language.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Save the trained model for future predictions.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8"/>
                </a:solidFill>
              </a:rPr>
              <a:t>2. Dataset &amp; Data Exploration</a:t>
            </a:r>
            <a:endParaRPr sz="2800" b="1">
              <a:solidFill>
                <a:srgbClr val="18233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77387"/>
                </a:solidFill>
              </a:rPr>
              <a:t>Dataset loaded from the project CSV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057400" cy="1143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1783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F5CA8"/>
                </a:solidFill>
              </a:rPr>
              <a:t>7,613</a:t>
            </a:r>
            <a:endParaRPr sz="2800" b="1">
              <a:solidFill>
                <a:srgbClr val="2F5CA8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tweets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971800" y="1325880"/>
            <a:ext cx="2057400" cy="1143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463039"/>
            <a:ext cx="1783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CA8C4"/>
                </a:solidFill>
              </a:rPr>
              <a:t>5</a:t>
            </a:r>
            <a:endParaRPr sz="2800" b="1">
              <a:solidFill>
                <a:srgbClr val="2CA8C4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columns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12080" y="1325880"/>
            <a:ext cx="2057400" cy="1143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F29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463039"/>
            <a:ext cx="1783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29136"/>
                </a:solidFill>
              </a:rPr>
              <a:t>4,342</a:t>
            </a:r>
            <a:endParaRPr sz="2800" b="1">
              <a:solidFill>
                <a:srgbClr val="F29136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non-disaster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52360" y="1325880"/>
            <a:ext cx="2057400" cy="1143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463039"/>
            <a:ext cx="1783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E05C99"/>
                </a:solidFill>
              </a:rPr>
              <a:t>3,271</a:t>
            </a:r>
            <a:endParaRPr sz="2800" b="1">
              <a:solidFill>
                <a:srgbClr val="E05C99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disaster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2788920"/>
            <a:ext cx="2011680" cy="384048"/>
          </a:xfrm>
          <a:prstGeom prst="roundRect">
            <a:avLst/>
          </a:prstGeom>
          <a:solidFill>
            <a:srgbClr val="3F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COLUMNS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1874519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2F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338"/>
                </a:solidFill>
              </a:rPr>
              <a:t>id</a:t>
            </a:r>
            <a:endParaRPr sz="1500" b="1">
              <a:solidFill>
                <a:srgbClr val="182338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26080" y="3337560"/>
            <a:ext cx="1874519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338"/>
                </a:solidFill>
              </a:rPr>
              <a:t>keyword</a:t>
            </a:r>
            <a:endParaRPr sz="1500" b="1">
              <a:solidFill>
                <a:srgbClr val="182338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74920" y="3337560"/>
            <a:ext cx="1874519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3F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338"/>
                </a:solidFill>
              </a:rPr>
              <a:t>location</a:t>
            </a:r>
            <a:endParaRPr sz="1500" b="1">
              <a:solidFill>
                <a:srgbClr val="182338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23760" y="3337560"/>
            <a:ext cx="1874519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E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338"/>
                </a:solidFill>
              </a:rPr>
              <a:t>text</a:t>
            </a:r>
            <a:endParaRPr sz="1500" b="1">
              <a:solidFill>
                <a:srgbClr val="18233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372600" y="3337560"/>
            <a:ext cx="1874519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F29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338"/>
                </a:solidFill>
              </a:rPr>
              <a:t>target</a:t>
            </a:r>
            <a:endParaRPr sz="1500" b="1">
              <a:solidFill>
                <a:srgbClr val="18233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Missing values: keyword = 61; location = 2,534; text and target = 0.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Duplicate rows found: 0.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Target distribution is moderately imbalanced, so stratified splitting/cross-validation was used.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8"/>
                </a:solidFill>
              </a:rPr>
              <a:t>3. Text Preprocessing &amp; Feature Engineering</a:t>
            </a:r>
            <a:endParaRPr sz="2800" b="1">
              <a:solidFill>
                <a:srgbClr val="182338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777240" y="1325880"/>
            <a:ext cx="566928" cy="566928"/>
          </a:xfrm>
          <a:prstGeom prst="ellipse">
            <a:avLst/>
          </a:prstGeom>
          <a:solidFill>
            <a:srgbClr val="2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4480" y="129844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82338"/>
                </a:solidFill>
              </a:rPr>
              <a:t>Text cleaning</a:t>
            </a:r>
            <a:endParaRPr sz="2000" b="1">
              <a:solidFill>
                <a:srgbClr val="18233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51960" y="1307592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830"/>
                </a:solidFill>
              </a:rPr>
              <a:t>Remove URLs, HTML/special characters, punctuation and other noise.</a:t>
            </a:r>
            <a:endParaRPr sz="1500">
              <a:solidFill>
                <a:srgbClr val="23283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777240" y="2514600"/>
            <a:ext cx="566928" cy="566928"/>
          </a:xfrm>
          <a:prstGeom prst="ellipse">
            <a:avLst/>
          </a:prstGeom>
          <a:solidFill>
            <a:srgbClr val="2CA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4480" y="2487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82338"/>
                </a:solidFill>
              </a:rPr>
              <a:t>Normalization</a:t>
            </a:r>
            <a:endParaRPr sz="2000" b="1">
              <a:solidFill>
                <a:srgbClr val="18233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51960" y="2496312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830"/>
                </a:solidFill>
              </a:rPr>
              <a:t>Prepare tweet text for consistent token-based representation.</a:t>
            </a:r>
            <a:endParaRPr sz="1500">
              <a:solidFill>
                <a:srgbClr val="23283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77240" y="3703320"/>
            <a:ext cx="566928" cy="566928"/>
          </a:xfrm>
          <a:prstGeom prst="ellipse">
            <a:avLst/>
          </a:prstGeom>
          <a:solidFill>
            <a:srgbClr val="E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675887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82338"/>
                </a:solidFill>
              </a:rPr>
              <a:t>TF-IDF</a:t>
            </a:r>
            <a:endParaRPr sz="2000" b="1">
              <a:solidFill>
                <a:srgbClr val="18233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51960" y="3685032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830"/>
                </a:solidFill>
              </a:rPr>
              <a:t>Convert cleaned tweets into numerical features based on term importance.</a:t>
            </a:r>
            <a:endParaRPr sz="1500">
              <a:solidFill>
                <a:srgbClr val="23283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777240" y="4892040"/>
            <a:ext cx="566928" cy="566928"/>
          </a:xfrm>
          <a:prstGeom prst="ellipse">
            <a:avLst/>
          </a:prstGeom>
          <a:solidFill>
            <a:srgbClr val="F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4480" y="48646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82338"/>
                </a:solidFill>
              </a:rPr>
              <a:t>Additional analysis</a:t>
            </a:r>
            <a:endParaRPr sz="2000" b="1">
              <a:solidFill>
                <a:srgbClr val="182338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51960" y="4873752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830"/>
                </a:solidFill>
              </a:rPr>
              <a:t>Explore word frequencies, bigrams/trigrams, tweet characteristics and language patterns.</a:t>
            </a:r>
            <a:endParaRPr sz="1500">
              <a:solidFill>
                <a:srgbClr val="23283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5715000"/>
            <a:ext cx="10241280" cy="502920"/>
          </a:xfrm>
          <a:prstGeom prst="roundRect">
            <a:avLst/>
          </a:prstGeom>
          <a:solidFill>
            <a:srgbClr val="E8EFFA"/>
          </a:solidFill>
          <a:ln>
            <a:solidFill>
              <a:srgbClr val="2F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82338"/>
                </a:solidFill>
              </a:rPr>
              <a:t>Raw tweet  →  cleaned text  →  TF-IDF vector  →  ML classifier</a:t>
            </a:r>
            <a:endParaRPr sz="1600" b="1">
              <a:solidFill>
                <a:srgbClr val="182338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8"/>
                </a:solidFill>
              </a:rPr>
              <a:t>4. Model Selection &amp; Cross-Validation</a:t>
            </a:r>
            <a:endParaRPr sz="2800" b="1">
              <a:solidFill>
                <a:srgbClr val="182338"/>
              </a:solidFill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234440"/>
          <a:ext cx="69037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325880"/>
            <a:ext cx="2011680" cy="384048"/>
          </a:xfrm>
          <a:prstGeom prst="roundRect">
            <a:avLst/>
          </a:prstGeom>
          <a:solidFill>
            <a:srgbClr val="2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5-FOLD CV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09560" y="1874519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StratifiedKFold with 5 folds.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Compared accuracy, precision, recall and F1-score.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Logistic Regression produced the highest cross-validation F1-score among the four candidates.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Linear models are well suited to sparse TF-IDF text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8"/>
                </a:solidFill>
              </a:rPr>
              <a:t>5. Hyperparameter Tuning</a:t>
            </a:r>
            <a:endParaRPr sz="2800" b="1">
              <a:solidFill>
                <a:srgbClr val="18233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11680" cy="384048"/>
          </a:xfrm>
          <a:prstGeom prst="roundRect">
            <a:avLst/>
          </a:prstGeom>
          <a:solidFill>
            <a:srgbClr val="F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GRID SEARCH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577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</a:defRPr>
            </a:pPr>
            <a:r>
              <a:t>A Logistic Regression pipeline was tuned with GridSearchCV.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</a:defRPr>
            </a:pPr>
            <a:r>
              <a:t>Search space included TF-IDF max_features, n-gram range and classifier C.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</a:defRPr>
            </a:pPr>
            <a:r>
              <a:t>The search used 5-fold stratified cross-validation and F1 as the scoring metric.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</a:defRPr>
            </a:pPr>
            <a:r>
              <a:t>Using a pipeline prevents TF-IDF vocabulary leakage across validation folds.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00200"/>
            <a:ext cx="4389120" cy="9601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2338"/>
                </a:solidFill>
              </a:rPr>
              <a:t>TF-IDF max_features</a:t>
            </a:r>
            <a:endParaRPr sz="1400" b="1">
              <a:solidFill>
                <a:srgbClr val="182338"/>
              </a:solidFill>
            </a:endParaRPr>
          </a:p>
          <a:p>
            <a:r>
              <a:rPr sz="1800" b="1">
                <a:solidFill>
                  <a:srgbClr val="2CA8C4"/>
                </a:solidFill>
              </a:rPr>
              <a:t>5,000 / 10,000</a:t>
            </a:r>
            <a:endParaRPr sz="1800" b="1">
              <a:solidFill>
                <a:srgbClr val="2CA8C4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766560" y="2926080"/>
            <a:ext cx="4389120" cy="9601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2338"/>
                </a:solidFill>
              </a:rPr>
              <a:t>n-gram range</a:t>
            </a:r>
            <a:endParaRPr sz="1400" b="1">
              <a:solidFill>
                <a:srgbClr val="182338"/>
              </a:solidFill>
            </a:endParaRPr>
          </a:p>
          <a:p>
            <a:r>
              <a:rPr sz="1800" b="1">
                <a:solidFill>
                  <a:srgbClr val="E05C99"/>
                </a:solidFill>
              </a:rPr>
              <a:t>(1,1) / (1,2)</a:t>
            </a:r>
            <a:endParaRPr sz="1800" b="1">
              <a:solidFill>
                <a:srgbClr val="E05C99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66560" y="4251960"/>
            <a:ext cx="4389120" cy="9601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3F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2338"/>
                </a:solidFill>
              </a:rPr>
              <a:t>Logistic C</a:t>
            </a:r>
            <a:endParaRPr sz="1400" b="1">
              <a:solidFill>
                <a:srgbClr val="182338"/>
              </a:solidFill>
            </a:endParaRPr>
          </a:p>
          <a:p>
            <a:r>
              <a:rPr sz="1800" b="1">
                <a:solidFill>
                  <a:srgbClr val="3F9A6A"/>
                </a:solidFill>
              </a:rPr>
              <a:t>0.1 / 1 / 10</a:t>
            </a:r>
            <a:endParaRPr sz="1800" b="1">
              <a:solidFill>
                <a:srgbClr val="3F9A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8"/>
                </a:solidFill>
              </a:rPr>
              <a:t>6. Final Test-Set Evaluation</a:t>
            </a:r>
            <a:endParaRPr sz="2800" b="1">
              <a:solidFill>
                <a:srgbClr val="18233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12344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2194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F5CA8"/>
                </a:solidFill>
              </a:rPr>
              <a:t>80.55%</a:t>
            </a:r>
            <a:endParaRPr sz="2800" b="1">
              <a:solidFill>
                <a:srgbClr val="2F5CA8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Accuracy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20439" y="1280160"/>
            <a:ext cx="2468880" cy="12344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9" y="1417319"/>
            <a:ext cx="2194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CA8C4"/>
                </a:solidFill>
              </a:rPr>
              <a:t>78.16%</a:t>
            </a:r>
            <a:endParaRPr sz="2800" b="1">
              <a:solidFill>
                <a:srgbClr val="2CA8C4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Precision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59" y="1280160"/>
            <a:ext cx="2468880" cy="12344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F29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19"/>
            <a:ext cx="2194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29136"/>
                </a:solidFill>
              </a:rPr>
              <a:t>75.47%</a:t>
            </a:r>
            <a:endParaRPr sz="2800" b="1">
              <a:solidFill>
                <a:srgbClr val="F29136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Recall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98280" y="1280160"/>
            <a:ext cx="2468880" cy="12344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417319"/>
            <a:ext cx="2194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E05C99"/>
                </a:solidFill>
              </a:rPr>
              <a:t>76.79%</a:t>
            </a:r>
            <a:endParaRPr sz="2800" b="1">
              <a:solidFill>
                <a:srgbClr val="E05C99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F1-score</a:t>
            </a:r>
            <a:endParaRPr sz="1200">
              <a:solidFill>
                <a:srgbClr val="677387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05840" y="2971800"/>
          <a:ext cx="101498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  <a:gridCol w="2537460"/>
                <a:gridCol w="253746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8233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830"/>
                          </a:solidFill>
                        </a:defRPr>
                      </a:pPr>
                      <a:r>
                        <a:t>Non-disaster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830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830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830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830"/>
                          </a:solidFill>
                        </a:defRPr>
                      </a:pPr>
                      <a:r>
                        <a:t>Disaster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83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830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830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5840" y="52578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Test set contains 1,501 unseen tweets (861 non-disaster, 640 disaster).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8"/>
                </a:solidFill>
              </a:rPr>
              <a:t>7. Error Analysis &amp; Validation</a:t>
            </a:r>
            <a:endParaRPr sz="2800" b="1">
              <a:solidFill>
                <a:srgbClr val="18233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11680" cy="384048"/>
          </a:xfrm>
          <a:prstGeom prst="roundRect">
            <a:avLst/>
          </a:prstGeom>
          <a:solidFill>
            <a:srgbClr val="E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CONFUSION MATRIX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23160" y="160020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677387"/>
                </a:solidFill>
              </a:rPr>
              <a:t>Predicted
Non-disaster</a:t>
            </a:r>
            <a:endParaRPr sz="1100" b="1">
              <a:solidFill>
                <a:srgbClr val="677387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0" y="160020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677387"/>
                </a:solidFill>
              </a:rPr>
              <a:t>Predicted
Disaster</a:t>
            </a:r>
            <a:endParaRPr sz="1100" b="1">
              <a:solidFill>
                <a:srgbClr val="67738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2606040"/>
            <a:ext cx="777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77387"/>
                </a:solidFill>
              </a:rPr>
              <a:t>Actual
Non-disaster</a:t>
            </a:r>
            <a:endParaRPr sz="1000" b="1">
              <a:solidFill>
                <a:srgbClr val="677387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777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77387"/>
                </a:solidFill>
              </a:rPr>
              <a:t>Actual
Disaster</a:t>
            </a:r>
            <a:endParaRPr sz="1000" b="1">
              <a:solidFill>
                <a:srgbClr val="677387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23160" y="1920240"/>
            <a:ext cx="1600200" cy="1143000"/>
          </a:xfrm>
          <a:prstGeom prst="rect">
            <a:avLst/>
          </a:prstGeom>
          <a:solidFill>
            <a:srgbClr val="D8EB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82338"/>
                </a:solidFill>
              </a:rPr>
              <a:t>724</a:t>
            </a:r>
            <a:endParaRPr sz="2600" b="1">
              <a:solidFill>
                <a:srgbClr val="18233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0" y="1920240"/>
            <a:ext cx="1600200" cy="1143000"/>
          </a:xfrm>
          <a:prstGeom prst="rect">
            <a:avLst/>
          </a:prstGeom>
          <a:solidFill>
            <a:srgbClr val="F1DC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82338"/>
                </a:solidFill>
              </a:rPr>
              <a:t>137</a:t>
            </a:r>
            <a:endParaRPr sz="2600" b="1">
              <a:solidFill>
                <a:srgbClr val="18233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23160" y="3154680"/>
            <a:ext cx="1600200" cy="1143000"/>
          </a:xfrm>
          <a:prstGeom prst="rect">
            <a:avLst/>
          </a:prstGeom>
          <a:solidFill>
            <a:srgbClr val="F1DC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82338"/>
                </a:solidFill>
              </a:rPr>
              <a:t>157</a:t>
            </a:r>
            <a:endParaRPr sz="2600" b="1">
              <a:solidFill>
                <a:srgbClr val="18233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0" y="3154680"/>
            <a:ext cx="1600200" cy="1143000"/>
          </a:xfrm>
          <a:prstGeom prst="rect">
            <a:avLst/>
          </a:prstGeom>
          <a:solidFill>
            <a:srgbClr val="D8EB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82338"/>
                </a:solidFill>
              </a:rPr>
              <a:t>483</a:t>
            </a:r>
            <a:endParaRPr sz="2600" b="1">
              <a:solidFill>
                <a:srgbClr val="182338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0" y="1325880"/>
            <a:ext cx="2011680" cy="384048"/>
          </a:xfrm>
          <a:prstGeom prst="roundRect">
            <a:avLst/>
          </a:prstGeom>
          <a:solidFill>
            <a:srgbClr val="3F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VALIDATION CHECKS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Training/test data were separated before final evaluation.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Stratification preserves the target distribution during validation.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Five-fold cross-validation checks model consistency.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Confusion matrix and classification report expose false positives and false negatives.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The notebook also tests predictions on varied tweet wording and capitalization.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8"/>
                </a:solidFill>
              </a:rPr>
              <a:t>8. Model Output &amp; Example Predictions</a:t>
            </a:r>
            <a:endParaRPr sz="2800" b="1">
              <a:solidFill>
                <a:srgbClr val="18233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2743200" cy="12344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46888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F5CA8"/>
                </a:solidFill>
              </a:rPr>
              <a:t>0 / 1</a:t>
            </a:r>
            <a:endParaRPr sz="2800" b="1">
              <a:solidFill>
                <a:srgbClr val="2F5CA8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binary prediction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94760" y="1234440"/>
            <a:ext cx="2743200" cy="12344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246888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CA8C4"/>
                </a:solidFill>
              </a:rPr>
              <a:t>TF-IDF</a:t>
            </a:r>
            <a:endParaRPr sz="2800" b="1">
              <a:solidFill>
                <a:srgbClr val="2CA8C4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text representation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12280" y="1234440"/>
            <a:ext cx="2743200" cy="12344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3F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246888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3F9A6A"/>
                </a:solidFill>
              </a:rPr>
              <a:t>PKL</a:t>
            </a:r>
            <a:endParaRPr sz="2800" b="1">
              <a:solidFill>
                <a:srgbClr val="3F9A6A"/>
              </a:solidFill>
            </a:endParaRPr>
          </a:p>
          <a:p>
            <a:pPr algn="ctr"/>
            <a:r>
              <a:rPr sz="1200">
                <a:solidFill>
                  <a:srgbClr val="677387"/>
                </a:solidFill>
              </a:rPr>
              <a:t>saved model artifact</a:t>
            </a:r>
            <a:endParaRPr sz="1200">
              <a:solidFill>
                <a:srgbClr val="677387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2880360"/>
            <a:ext cx="10561320" cy="713232"/>
          </a:xfrm>
          <a:prstGeom prst="roundRect">
            <a:avLst/>
          </a:prstGeom>
          <a:solidFill>
            <a:srgbClr val="F5F8FC"/>
          </a:solidFill>
          <a:ln>
            <a:solidFill>
              <a:srgbClr val="CD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9008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830"/>
                </a:solidFill>
              </a:rPr>
              <a:t>“Massive flooding has damaged several houses”</a:t>
            </a:r>
            <a:endParaRPr sz="1500">
              <a:solidFill>
                <a:srgbClr val="23283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32520" y="299008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D464B"/>
                </a:solidFill>
              </a:rPr>
              <a:t>Disaster-related</a:t>
            </a:r>
            <a:endParaRPr sz="1400" b="1">
              <a:solidFill>
                <a:srgbClr val="CD464B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10561320" cy="713232"/>
          </a:xfrm>
          <a:prstGeom prst="roundRect">
            <a:avLst/>
          </a:prstGeom>
          <a:solidFill>
            <a:srgbClr val="F5F8FC"/>
          </a:solidFill>
          <a:ln>
            <a:solidFill>
              <a:srgbClr val="3F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0448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830"/>
                </a:solidFill>
              </a:rPr>
              <a:t>“I am enjoying a wonderful day with friends”</a:t>
            </a:r>
            <a:endParaRPr sz="1500">
              <a:solidFill>
                <a:srgbClr val="23283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32520" y="390448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F9A6A"/>
                </a:solidFill>
              </a:rPr>
              <a:t>Non-disaster</a:t>
            </a:r>
            <a:endParaRPr sz="1400" b="1">
              <a:solidFill>
                <a:srgbClr val="3F9A6A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60"/>
            <a:ext cx="10561320" cy="713232"/>
          </a:xfrm>
          <a:prstGeom prst="roundRect">
            <a:avLst/>
          </a:prstGeom>
          <a:solidFill>
            <a:srgbClr val="F5F8FC"/>
          </a:solidFill>
          <a:ln>
            <a:solidFill>
              <a:srgbClr val="CD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1888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830"/>
                </a:solidFill>
              </a:rPr>
              <a:t>“Emergency services are rescuing people after the earthquake”</a:t>
            </a:r>
            <a:endParaRPr sz="1500">
              <a:solidFill>
                <a:srgbClr val="23283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481888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D464B"/>
                </a:solidFill>
              </a:rPr>
              <a:t>Disaster-related</a:t>
            </a:r>
            <a:endParaRPr sz="1400" b="1">
              <a:solidFill>
                <a:srgbClr val="CD464B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646535" cy="1143000"/>
          </a:xfrm>
        </p:spPr>
        <p:txBody>
          <a:bodyPr/>
          <a:p>
            <a:r>
              <a:rPr lang="en-US"/>
              <a:t>Screenshots from VS Code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430"/>
            <a:ext cx="5475605" cy="639445"/>
          </a:xfrm>
        </p:spPr>
        <p:txBody>
          <a:bodyPr/>
          <a:p>
            <a:r>
              <a:rPr lang="en-US"/>
              <a:t>app.py</a:t>
            </a:r>
            <a:endParaRPr lang="en-US"/>
          </a:p>
        </p:txBody>
      </p:sp>
      <p:pic>
        <p:nvPicPr>
          <p:cNvPr id="7" name="Content Placeholder 6" descr="Screenshot 2026-10-14 22530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57200" y="2174875"/>
            <a:ext cx="5516245" cy="448373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930" y="1535430"/>
            <a:ext cx="5779770" cy="639445"/>
          </a:xfrm>
        </p:spPr>
        <p:txBody>
          <a:bodyPr/>
          <a:p>
            <a:r>
              <a:rPr lang="en-US"/>
              <a:t>app.py</a:t>
            </a:r>
            <a:endParaRPr lang="en-US"/>
          </a:p>
        </p:txBody>
      </p:sp>
      <p:pic>
        <p:nvPicPr>
          <p:cNvPr id="8" name="Content Placeholder 7" descr="C:/Users/hp/Pictures/Screenshots/Screenshot 2026-10-14 231929.pngScreenshot 2026-10-14 231929"/>
          <p:cNvPicPr>
            <a:picLocks noChangeAspect="1"/>
          </p:cNvPicPr>
          <p:nvPr>
            <p:ph sz="quarter" idx="4"/>
          </p:nvPr>
        </p:nvPicPr>
        <p:blipFill>
          <a:blip r:embed="rId2"/>
          <a:srcRect t="5" b="5"/>
          <a:stretch>
            <a:fillRect/>
          </a:stretch>
        </p:blipFill>
        <p:spPr>
          <a:xfrm>
            <a:off x="6318885" y="2168525"/>
            <a:ext cx="5782945" cy="44672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646535" cy="1143000"/>
          </a:xfrm>
        </p:spPr>
        <p:txBody>
          <a:bodyPr/>
          <a:p>
            <a:r>
              <a:rPr lang="en-US"/>
              <a:t>Screenshots from VS Code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430"/>
            <a:ext cx="5475605" cy="639445"/>
          </a:xfrm>
        </p:spPr>
        <p:txBody>
          <a:bodyPr/>
          <a:p>
            <a:r>
              <a:rPr lang="en-US"/>
              <a:t>html file</a:t>
            </a:r>
            <a:endParaRPr lang="en-US"/>
          </a:p>
        </p:txBody>
      </p:sp>
      <p:pic>
        <p:nvPicPr>
          <p:cNvPr id="7" name="Content Placeholder 6" descr="C:/Users/hp/Pictures/Screenshots/Screenshot 2026-10-14 225354.pngScreenshot 2026-10-14 225354"/>
          <p:cNvPicPr>
            <a:picLocks noChangeAspect="1"/>
          </p:cNvPicPr>
          <p:nvPr>
            <p:ph sz="half" idx="2"/>
          </p:nvPr>
        </p:nvPicPr>
        <p:blipFill>
          <a:blip r:embed="rId1"/>
          <a:srcRect t="12" b="12"/>
          <a:stretch>
            <a:fillRect/>
          </a:stretch>
        </p:blipFill>
        <p:spPr>
          <a:xfrm>
            <a:off x="457200" y="2292985"/>
            <a:ext cx="5516245" cy="434086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930" y="1535430"/>
            <a:ext cx="5779770" cy="639445"/>
          </a:xfrm>
        </p:spPr>
        <p:txBody>
          <a:bodyPr/>
          <a:p>
            <a:r>
              <a:rPr lang="en-US"/>
              <a:t>html file</a:t>
            </a:r>
            <a:endParaRPr lang="en-US"/>
          </a:p>
        </p:txBody>
      </p:sp>
      <p:pic>
        <p:nvPicPr>
          <p:cNvPr id="8" name="Content Placeholder 7" descr="C:/Users/hp/Pictures/Screenshots/Screenshot 2026-10-14 231906.pngScreenshot 2026-10-14 231906"/>
          <p:cNvPicPr>
            <a:picLocks noChangeAspect="1"/>
          </p:cNvPicPr>
          <p:nvPr>
            <p:ph sz="quarter" idx="4"/>
          </p:nvPr>
        </p:nvPicPr>
        <p:blipFill>
          <a:blip r:embed="rId2"/>
          <a:srcRect b="11"/>
          <a:stretch>
            <a:fillRect/>
          </a:stretch>
        </p:blipFill>
        <p:spPr>
          <a:xfrm>
            <a:off x="6318885" y="2322195"/>
            <a:ext cx="5782945" cy="43237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003915" cy="1143000"/>
          </a:xfrm>
        </p:spPr>
        <p:txBody>
          <a:bodyPr/>
          <a:p>
            <a:r>
              <a:rPr lang="en-US">
                <a:sym typeface="+mn-ea"/>
              </a:rPr>
              <a:t>Screenshots from VS 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7" name="Content Placeholder 6" descr="C:/Users/hp/Pictures/Screenshots/Screenshot 2026-10-14 225633.pngScreenshot 2026-10-14 225633"/>
          <p:cNvPicPr>
            <a:picLocks noChangeAspect="1"/>
          </p:cNvPicPr>
          <p:nvPr>
            <p:ph sz="half" idx="2"/>
          </p:nvPr>
        </p:nvPicPr>
        <p:blipFill>
          <a:blip r:embed="rId1"/>
          <a:srcRect b="23"/>
          <a:stretch>
            <a:fillRect/>
          </a:stretch>
        </p:blipFill>
        <p:spPr>
          <a:xfrm>
            <a:off x="457200" y="1694815"/>
            <a:ext cx="11019155" cy="48533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646535" cy="1143000"/>
          </a:xfrm>
        </p:spPr>
        <p:txBody>
          <a:bodyPr/>
          <a:p>
            <a:r>
              <a:rPr lang="en-US"/>
              <a:t>Screenshots from VS Code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430"/>
            <a:ext cx="5475605" cy="639445"/>
          </a:xfrm>
        </p:spPr>
        <p:txBody>
          <a:bodyPr>
            <a:normAutofit fontScale="70000"/>
          </a:bodyPr>
          <a:p>
            <a:r>
              <a:rPr lang="en-US">
                <a:sym typeface="+mn-ea"/>
              </a:rPr>
              <a:t>Tweet picture with Prediction Results(Disaster-Related Tweet)</a:t>
            </a:r>
            <a:endParaRPr lang="en-US"/>
          </a:p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930" y="1535430"/>
            <a:ext cx="5338445" cy="639445"/>
          </a:xfrm>
        </p:spPr>
        <p:txBody>
          <a:bodyPr>
            <a:normAutofit fontScale="70000"/>
          </a:bodyPr>
          <a:p>
            <a:r>
              <a:rPr lang="en-US">
                <a:sym typeface="+mn-ea"/>
              </a:rPr>
              <a:t>Tweet picture with Prediction Results</a:t>
            </a:r>
            <a:r>
              <a:rPr lang="en-US">
                <a:sym typeface="+mn-ea"/>
              </a:rPr>
              <a:t>( Non-Disaster Tweet)</a:t>
            </a:r>
            <a:endParaRPr lang="en-US"/>
          </a:p>
          <a:p>
            <a:endParaRPr lang="en-US"/>
          </a:p>
        </p:txBody>
      </p:sp>
      <p:pic>
        <p:nvPicPr>
          <p:cNvPr id="6" name="Content Placeholder 7" descr="C:/Users/hp/Pictures/Screenshots/Screenshot 2026-10-14 225712.pngScreenshot 2026-10-14 225712"/>
          <p:cNvPicPr>
            <a:picLocks noChangeAspect="1"/>
          </p:cNvPicPr>
          <p:nvPr>
            <p:ph sz="half" idx="2"/>
          </p:nvPr>
        </p:nvPicPr>
        <p:blipFill>
          <a:blip r:embed="rId1"/>
          <a:srcRect b="11"/>
          <a:stretch>
            <a:fillRect/>
          </a:stretch>
        </p:blipFill>
        <p:spPr>
          <a:xfrm>
            <a:off x="457200" y="2166620"/>
            <a:ext cx="5784215" cy="4292600"/>
          </a:xfrm>
          <a:prstGeom prst="rect">
            <a:avLst/>
          </a:prstGeom>
        </p:spPr>
      </p:pic>
      <p:pic>
        <p:nvPicPr>
          <p:cNvPr id="10" name="Content Placeholder 6" descr="C:/Users/hp/Pictures/Screenshots/Screenshot 2026-10-14 225750.pngScreenshot 2026-10-14 225750"/>
          <p:cNvPicPr>
            <a:picLocks noChangeAspect="1"/>
          </p:cNvPicPr>
          <p:nvPr>
            <p:ph sz="quarter" idx="4"/>
          </p:nvPr>
        </p:nvPicPr>
        <p:blipFill>
          <a:blip r:embed="rId2"/>
          <a:srcRect b="23"/>
          <a:stretch>
            <a:fillRect/>
          </a:stretch>
        </p:blipFill>
        <p:spPr>
          <a:xfrm>
            <a:off x="6302375" y="2212975"/>
            <a:ext cx="5808345" cy="42462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9. Conclusion &amp; Future Scope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The project successfully builds an end-to-end NLP workflow for disaster tweet classification.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Logistic Regression with TF-IDF was the strongest candidate in cross-validation and was tuned for final evaluation.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The final test results achieved 80.55% accuracy and 76.79% F1-score.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The trained classifier was saved as a reusable model artifact and tested on new tweets.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Future improvements: richer semantic representations such as Word2Vec/GloVe or Transformer models, stronger context handling, and deployment through a web interface.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756920" y="6837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Disaster Tweet Classification • NLP / Machine Learning    |   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715" y="-635"/>
            <a:ext cx="11670665" cy="6613525"/>
          </a:xfrm>
        </p:spPr>
        <p:txBody>
          <a:bodyPr>
            <a:normAutofit/>
          </a:bodyPr>
          <a:p>
            <a:pPr algn="l"/>
            <a:r>
              <a:rPr lang="en-US" sz="5400" b="1" u="sng">
                <a:solidFill>
                  <a:schemeClr val="tx2">
                    <a:lumMod val="50000"/>
                  </a:schemeClr>
                </a:solidFill>
                <a:effectLst/>
                <a:latin typeface="Imprint MT Shadow" panose="04020605060303030202" charset="0"/>
                <a:cs typeface="Imprint MT Shadow" panose="04020605060303030202" charset="0"/>
                <a:sym typeface="+mn-ea"/>
              </a:rPr>
              <a:t>Thankyou for your time &amp; attention!</a:t>
            </a:r>
            <a:br>
              <a:rPr lang="en-US" b="1" u="sng">
                <a:solidFill>
                  <a:schemeClr val="tx2">
                    <a:lumMod val="50000"/>
                  </a:schemeClr>
                </a:solidFill>
                <a:effectLst/>
                <a:latin typeface="Imprint MT Shadow" panose="04020605060303030202" charset="0"/>
                <a:cs typeface="Imprint MT Shadow" panose="04020605060303030202" charset="0"/>
                <a:sym typeface="+mn-ea"/>
              </a:rPr>
            </a:br>
            <a:br>
              <a:rPr lang="en-US" b="1" u="sng">
                <a:solidFill>
                  <a:schemeClr val="tx2">
                    <a:lumMod val="50000"/>
                  </a:schemeClr>
                </a:solidFill>
                <a:effectLst/>
                <a:latin typeface="Imprint MT Shadow" panose="04020605060303030202" charset="0"/>
                <a:cs typeface="Imprint MT Shadow" panose="04020605060303030202" charset="0"/>
                <a:sym typeface="+mn-ea"/>
              </a:rPr>
            </a:br>
            <a:br>
              <a:rPr lang="en-US" b="1" u="sng">
                <a:solidFill>
                  <a:schemeClr val="tx2">
                    <a:lumMod val="50000"/>
                  </a:schemeClr>
                </a:solidFill>
                <a:effectLst/>
                <a:latin typeface="Imprint MT Shadow" panose="04020605060303030202" charset="0"/>
                <a:cs typeface="Imprint MT Shadow" panose="04020605060303030202" charset="0"/>
                <a:sym typeface="+mn-ea"/>
              </a:rPr>
            </a:br>
            <a:r>
              <a:rPr lang="en-US" sz="4000" b="1" u="sng">
                <a:latin typeface="Georgia" panose="02040502050405020303" charset="0"/>
                <a:cs typeface="Georgia" panose="02040502050405020303" charset="0"/>
                <a:sym typeface="+mn-ea"/>
              </a:rPr>
              <a:t>PROJECT PRESENTED BY:- IRAM SHAFI</a:t>
            </a:r>
            <a:br>
              <a:rPr lang="en-US" sz="4000" b="1" u="sng">
                <a:latin typeface="Georgia" panose="02040502050405020303" charset="0"/>
                <a:cs typeface="Georgia" panose="02040502050405020303" charset="0"/>
                <a:sym typeface="+mn-ea"/>
              </a:rPr>
            </a:br>
            <a:br>
              <a:rPr lang="en-US" sz="4000" b="1" u="sng">
                <a:solidFill>
                  <a:schemeClr val="tx1"/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</a:br>
            <a:r>
              <a:rPr lang="en-US" sz="4000" b="1" u="sng">
                <a:latin typeface="Georgia" panose="02040502050405020303" charset="0"/>
                <a:cs typeface="Georgia" panose="02040502050405020303" charset="0"/>
                <a:sym typeface="+mn-ea"/>
              </a:rPr>
              <a:t>PRESENTED ON:- 15-10-2026</a:t>
            </a:r>
            <a:br>
              <a:rPr lang="en-US" sz="4000" b="1" u="sng">
                <a:solidFill>
                  <a:schemeClr val="tx1"/>
                </a:solidFill>
                <a:latin typeface="Georgia" panose="02040502050405020303" charset="0"/>
                <a:cs typeface="Georgia" panose="02040502050405020303" charset="0"/>
              </a:rPr>
            </a:br>
            <a:endParaRPr lang="en-US" sz="4000" b="1" u="sng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4962</Words>
  <Application>WPS Presentation</Application>
  <PresentationFormat>On-screen Show (4:3)</PresentationFormat>
  <Paragraphs>263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Imprint MT Shadow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Screenshots from VS Code</vt:lpstr>
      <vt:lpstr>PowerPoint 演示文稿</vt:lpstr>
      <vt:lpstr>Screenshots from VS Code</vt:lpstr>
      <vt:lpstr>PowerPoint 演示文稿</vt:lpstr>
      <vt:lpstr>Thankyou for your time &amp; attention!   PROJECT PRESENTED BY:- IRAM SHAFI  PRESENTED ON:- 16-10-2026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shair iram</cp:lastModifiedBy>
  <cp:revision>4</cp:revision>
  <dcterms:created xsi:type="dcterms:W3CDTF">2013-01-27T09:14:00Z</dcterms:created>
  <dcterms:modified xsi:type="dcterms:W3CDTF">2026-10-14T17:58:25Z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74822C0D15454733A1DAC3216675D697_12</vt:lpwstr>
  </property>
</Properties>
</file>